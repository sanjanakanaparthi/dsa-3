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71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600200"/>
            <a:ext cx="10058400" cy="1828800"/>
          </a:xfrm>
        </p:spPr>
        <p:txBody>
          <a:bodyPr anchor="ctr"/>
          <a:lstStyle/>
          <a:p>
            <a:pPr algn="ctr"/>
            <a:r>
              <a:rPr sz="2400" b="1">
                <a:solidFill>
                  <a:srgbClr val="C00000"/>
                </a:solidFill>
                <a:latin typeface="Calibri"/>
              </a:rPr>
              <a:t>Data Structures and Algorithms -3 (25CS2103E)</a:t>
            </a:r>
          </a:p>
          <a:p>
            <a:pPr algn="ctr">
              <a:spcBef>
                <a:spcPts val="1800"/>
              </a:spcBef>
            </a:pPr>
            <a:r>
              <a:rPr sz="4000" b="1">
                <a:solidFill>
                  <a:srgbClr val="C00000"/>
                </a:solidFill>
                <a:latin typeface="Calibri"/>
              </a:rPr>
              <a:t>Logistics Optimization Using Minimum-Cost Maximum-Flow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4248" y="3657600"/>
            <a:ext cx="8229600" cy="2743200"/>
          </a:xfrm>
        </p:spPr>
        <p:txBody>
          <a:bodyPr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Calibri"/>
              </a:rPr>
              <a:t>Team Members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800" b="0">
                <a:solidFill>
                  <a:srgbClr val="0070C0"/>
                </a:solidFill>
                <a:latin typeface="Calibri"/>
              </a:rPr>
              <a:t>Yalamanchili Yashwanth (2520030506)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800" b="0">
                <a:solidFill>
                  <a:srgbClr val="0070C0"/>
                </a:solidFill>
                <a:latin typeface="Calibri"/>
              </a:rPr>
              <a:t>Sanjana Kanaparthi (2520030229)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800" b="0">
                <a:solidFill>
                  <a:srgbClr val="0070C0"/>
                </a:solidFill>
                <a:latin typeface="Calibri"/>
              </a:rPr>
              <a:t>Gajengi Keerthi (2520030092)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Team 17  |  Section 5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Under the Esteemed Guidance of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Dr. Swathi, 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840480" y="960120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Literature Survey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Problem Statement and Objectives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Flow Chart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Results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Hardware and Software Requirements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Conclusion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760720" cy="475488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5212080" cy="4297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Businesses must move goods from warehouses to destinations at the lowest possible cost. This project turns that problem into a </a:t>
            </a:r>
            <a:r>
              <a:rPr sz="1800" b="1" i="0">
                <a:solidFill>
                  <a:srgbClr val="C00000"/>
                </a:solidFill>
                <a:latin typeface="Calibri"/>
              </a:rPr>
              <a:t>flow network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: warehouses, destinations and routes are the points and links, each route has a </a:t>
            </a:r>
            <a:r>
              <a:rPr sz="1800" b="1" i="0">
                <a:solidFill>
                  <a:srgbClr val="262626"/>
                </a:solidFill>
                <a:latin typeface="Calibri"/>
              </a:rPr>
              <a:t>capacity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(shipment limit) and a </a:t>
            </a:r>
            <a:r>
              <a:rPr sz="1800" b="1" i="0">
                <a:solidFill>
                  <a:srgbClr val="262626"/>
                </a:solidFill>
                <a:latin typeface="Calibri"/>
              </a:rPr>
              <a:t>cost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(transport expense).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The </a:t>
            </a:r>
            <a:r>
              <a:rPr sz="1800" b="1" i="0">
                <a:solidFill>
                  <a:srgbClr val="C00000"/>
                </a:solidFill>
                <a:latin typeface="Calibri"/>
              </a:rPr>
              <a:t>Minimum-Cost Maximum-Flow (MCMF)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algorithm then decides how much to ship on each route, so that all supply and demand limits are respected and the total cost is as low as possible.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A detailed cost report and a picture of the network make the optimized plan easy to understand.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325880"/>
            <a:ext cx="4754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63740" y="166878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277" y="1855317"/>
            <a:ext cx="404164" cy="404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463039"/>
            <a:ext cx="3337560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INPUT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Warehouses (supply), destinations (demand) and routes with capacity and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971800"/>
            <a:ext cx="4754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063740" y="331470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77" y="3501237"/>
            <a:ext cx="404164" cy="404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3108960"/>
            <a:ext cx="3337560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METHOD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MCMF finds the cheapest way to move the maximum possible cargo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617720"/>
            <a:ext cx="4754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063740" y="49606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277" y="5147157"/>
            <a:ext cx="404164" cy="404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4754880"/>
            <a:ext cx="3337560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OUTPUT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Routes used, quantity shipped, cost per route, total cost and network view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6355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5820" y="166878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57" y="1855317"/>
            <a:ext cx="404164" cy="404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74519" y="1325880"/>
            <a:ext cx="502920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What is logistics?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Moving goods from where they are stored (warehouses) to where they are needed (destinations).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6355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5820" y="331470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up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7" y="3501237"/>
            <a:ext cx="404164" cy="404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971800"/>
            <a:ext cx="502920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Why does cost matter?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Many routes exist by road, rail and air, each with a limit and a price. A poor choice wastes money or leaves orders undelivered.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617720"/>
            <a:ext cx="6355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5820" y="49606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57" y="5147157"/>
            <a:ext cx="404164" cy="404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4617720"/>
            <a:ext cx="502920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Our solution: CargoRoute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A Java desktop application that uses Minimum-Cost Maximum-Flow to deliver the maximum cargo at the lowest total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2588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1325880"/>
            <a:ext cx="137160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C00000"/>
                </a:solidFill>
                <a:latin typeface="Calibr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325880"/>
            <a:ext cx="256032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hubs (cities) across India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97180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2971800"/>
            <a:ext cx="137160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C00000"/>
                </a:solidFill>
                <a:latin typeface="Calibri"/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971800"/>
            <a:ext cx="256032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scheduled road, rail and air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61772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4617720"/>
            <a:ext cx="137160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C00000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617720"/>
            <a:ext cx="256032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transport modes: truck, train, flight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80160"/>
          <a:ext cx="10835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109728" marR="10972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contributed</a:t>
                      </a:r>
                    </a:p>
                  </a:txBody>
                  <a:tcPr marL="109728" marR="10972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How it helps our project</a:t>
                      </a:r>
                    </a:p>
                  </a:txBody>
                  <a:tcPr marL="109728" marR="10972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Calibri"/>
                        </a:rPr>
                        <a:t>Hitchcock (1941)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Defined the transportation problem: ship a product from several sources to many destinations at least cost.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The same real-world problem our system solves.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Calibri"/>
                        </a:rPr>
                        <a:t>Ford &amp; Fulkerson (1956)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Introduced maximum flow using augmenting paths in a network with capacities.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Basis of the “maximum flow” and residual-graph ideas.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Calibri"/>
                        </a:rPr>
                        <a:t>Bellman (1958) and Ford (1956)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Bellman–Ford shortest-path method, which also works with negative edge costs.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Finds the cheapest path in the residual graph, where reverse edges have negative cost.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Calibri"/>
                        </a:rPr>
                        <a:t>Edmonds &amp; Karp (1972)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Showed that augmenting along shortest paths gives guaranteed running time; extended to min-cost flow.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Supports our shortest-augmenting-path approach.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Calibri"/>
                        </a:rPr>
                        <a:t>Ahuja, Magnanti &amp; Orlin (1993)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Textbook “Network Flows”: standard reference for min-cost flow algorithms.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Guide for implementing and understanding MCMF.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669280"/>
            <a:ext cx="10835640" cy="640080"/>
          </a:xfrm>
          <a:prstGeom prst="roundRect">
            <a:avLst>
              <a:gd name="adj" fmla="val 17142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669280"/>
            <a:ext cx="104698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Gap: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earlier work gives the theory; our project turns it into a working tool with routes, quantities and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4572000" cy="4663440"/>
          </a:xfrm>
          <a:prstGeom prst="roundRect">
            <a:avLst>
              <a:gd name="adj" fmla="val 24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7373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arge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1911095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74519" y="1737360"/>
            <a:ext cx="32004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393192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Goods must travel from warehouses to destinations over routes that each have a limited capacity and a different cost.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Choosing routes by guesswork wastes money or leaves demand unmet. We need a system that ships the 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maximum cargo at the minimum total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280160"/>
            <a:ext cx="5852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00000"/>
                </a:solidFill>
                <a:latin typeface="Calibri"/>
              </a:rPr>
              <a:t>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828800"/>
            <a:ext cx="58978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60720" y="1956816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0" y="19568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0292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Model warehouses, destinations and routes as a flow network (capacity and cost).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2679192"/>
            <a:ext cx="58978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60720" y="2807208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28072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79192"/>
            <a:ext cx="50292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Apply the Minimum-Cost Maximum-Flow algorithm to find the best shipment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529584"/>
            <a:ext cx="58978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60720" y="3657600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365760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9584"/>
            <a:ext cx="50292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Respect supply, demand and route-capacity limits at all times.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379976"/>
            <a:ext cx="58978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760720" y="4507992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0" y="45079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79976"/>
            <a:ext cx="50292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Show a cost report: routes used, quantity shipped, cost per route and total cost.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5230368"/>
            <a:ext cx="58978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60720" y="5358384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720" y="53583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30368"/>
            <a:ext cx="50292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Give a visual view of the network so the result is easy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Terminator 3"/>
          <p:cNvSpPr/>
          <p:nvPr/>
        </p:nvSpPr>
        <p:spPr>
          <a:xfrm>
            <a:off x="685800" y="1440180"/>
            <a:ext cx="1737360" cy="777240"/>
          </a:xfrm>
          <a:prstGeom prst="flowChartTerminator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32588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Calibri"/>
              </a:rPr>
              <a:t>Read input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Hubs, services (capacity and cost), cargo weight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Calibri"/>
              </a:rPr>
              <a:t>Build flow network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Source, sink, forward and reverse edges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1325880"/>
            <a:ext cx="21488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Calibri"/>
              </a:rPr>
              <a:t>Find cheapest path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Bellman–Ford on residual graph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1828800"/>
            <a:ext cx="54864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23560" y="1828800"/>
            <a:ext cx="54864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23960" y="1828800"/>
            <a:ext cx="54864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ecision 10"/>
          <p:cNvSpPr/>
          <p:nvPr/>
        </p:nvSpPr>
        <p:spPr>
          <a:xfrm>
            <a:off x="9212580" y="2971800"/>
            <a:ext cx="2468880" cy="1508760"/>
          </a:xfrm>
          <a:prstGeom prst="flowChartDecision">
            <a:avLst/>
          </a:prstGeom>
          <a:solidFill>
            <a:srgbClr val="FBEAEA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Path found and demand left?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47020" y="2331720"/>
            <a:ext cx="0" cy="64008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322326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Calibri"/>
              </a:rPr>
              <a:t>Send flow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Push the bottleneck amount, update residual graph and cost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823960" y="3726180"/>
            <a:ext cx="38862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78240" y="336499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Yes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498079" y="2697480"/>
            <a:ext cx="0" cy="52578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79" y="2697480"/>
            <a:ext cx="2240281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738360" y="2331720"/>
            <a:ext cx="0" cy="36576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35240" y="27249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repeat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47020" y="4480560"/>
            <a:ext cx="0" cy="59436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515600" y="45720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2580" y="5074920"/>
            <a:ext cx="24688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Calibri"/>
              </a:rPr>
              <a:t>Show cost report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Routes, quantity, cost, total cost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275320" y="5554980"/>
            <a:ext cx="93726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rminator 23"/>
          <p:cNvSpPr/>
          <p:nvPr/>
        </p:nvSpPr>
        <p:spPr>
          <a:xfrm>
            <a:off x="6172200" y="5166360"/>
            <a:ext cx="2103120" cy="777240"/>
          </a:xfrm>
          <a:prstGeom prst="flowChartTerminator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97180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108960"/>
            <a:ext cx="4572000" cy="2834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In simple words</a:t>
            </a:r>
          </a:p>
          <a:p>
            <a:pPr marL="228600" indent="-228600" algn="l"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sz="1650" b="1" i="0">
                <a:solidFill>
                  <a:srgbClr val="262626"/>
                </a:solidFill>
                <a:latin typeface="Calibri"/>
              </a:rPr>
              <a:t>Residual graph: 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keeps track of how much room is still free on every route.</a:t>
            </a:r>
          </a:p>
          <a:p>
            <a:pPr marL="228600" indent="-228600" algn="l"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sz="1650" b="1" i="0">
                <a:solidFill>
                  <a:srgbClr val="262626"/>
                </a:solidFill>
                <a:latin typeface="Calibri"/>
              </a:rPr>
              <a:t>Reverse edges: 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let the algorithm undo an earlier choice when a cheaper plan exists.</a:t>
            </a:r>
          </a:p>
          <a:p>
            <a:pPr marL="228600" indent="-228600" algn="l"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1" i="0">
                <a:solidFill>
                  <a:srgbClr val="262626"/>
                </a:solidFill>
                <a:latin typeface="Calibri"/>
              </a:rPr>
              <a:t>Bellman–Ford: 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finds the cheapest path even when some edge costs are negative.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69164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Calibri"/>
              </a:rPr>
              <a:t>70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280160"/>
            <a:ext cx="16002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Cargo delivered (70 t requested)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59" y="1280160"/>
            <a:ext cx="169164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C00000"/>
                </a:solidFill>
                <a:latin typeface="Calibri"/>
              </a:rPr>
              <a:t>₹3,54,850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16002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Minimum total transport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8016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280160"/>
            <a:ext cx="169164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C00000"/>
                </a:solidFill>
                <a:latin typeface="Calibri"/>
              </a:rPr>
              <a:t>2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1280160"/>
            <a:ext cx="16002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Used: 65 t via Bhopal, 5 t via Nagpur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68880"/>
            <a:ext cx="60350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542032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Optimized plan: Hyderabad → Delhi, 70 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790409" y="3580196"/>
            <a:ext cx="1311221" cy="429127"/>
          </a:xfrm>
          <a:prstGeom prst="line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43100" y="356616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C00000"/>
                </a:solidFill>
                <a:latin typeface="Calibri"/>
              </a:rPr>
              <a:t>Train · 65 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₹1,65,750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05009" y="3580196"/>
            <a:ext cx="1311221" cy="429127"/>
          </a:xfrm>
          <a:prstGeom prst="line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57700" y="356616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C00000"/>
                </a:solidFill>
                <a:latin typeface="Calibri"/>
              </a:rPr>
              <a:t>Train · 65 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₹1,52,100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90768" y="4381381"/>
            <a:ext cx="1310503" cy="381237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943100" y="434340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95959"/>
                </a:solidFill>
                <a:latin typeface="Calibri"/>
              </a:rPr>
              <a:t>Truck · 5 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₹21,250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305368" y="4381381"/>
            <a:ext cx="1310503" cy="381237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57700" y="434340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95959"/>
                </a:solidFill>
                <a:latin typeface="Calibri"/>
              </a:rPr>
              <a:t>Train · 5 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₹15,750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913631"/>
            <a:ext cx="1133856" cy="58521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Hyderabad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36391" y="3090672"/>
            <a:ext cx="1133856" cy="585216"/>
          </a:xfrm>
          <a:prstGeom prst="roundRect">
            <a:avLst>
              <a:gd name="adj" fmla="val 3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Bhopal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36391" y="4645152"/>
            <a:ext cx="1133856" cy="585216"/>
          </a:xfrm>
          <a:prstGeom prst="roundRect">
            <a:avLst>
              <a:gd name="adj" fmla="val 3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Nagpur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50992" y="3913631"/>
            <a:ext cx="1133856" cy="58521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Delhi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23560"/>
            <a:ext cx="5669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The cheapest route (via Bhopal, ₹4,890 per tonne) is full at 65 t, so the last 5 t take the next cheapest route (via Nagpur, ₹7,400 per tonne).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468880"/>
            <a:ext cx="4526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Sample runs of the CargoRoute planner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995160" y="2880360"/>
          <a:ext cx="452627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Shipment</a:t>
                      </a:r>
                    </a:p>
                  </a:txBody>
                  <a:tcPr marL="109728" marR="10972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Min. cost</a:t>
                      </a:r>
                    </a:p>
                  </a:txBody>
                  <a:tcPr marL="109728" marR="10972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109728" marR="10972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Hyderabad → Delhi, 8.5 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Calibri"/>
                        </a:rPr>
                        <a:t>₹41,565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All delivered via Bhopal (train)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Hyderabad → Delhi, 70 t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Calibri"/>
                        </a:rPr>
                        <a:t>₹3,54,850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65 t via Bhopal, 5 t via Nagpur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Mumbai → Bengaluru, 9.2 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Calibri"/>
                        </a:rPr>
                        <a:t>₹77,418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All delivered via Pune (truck)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Hyderabad → Delhi, 8.5 t, flights only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0 t: no flight route exists</a:t>
                      </a:r>
                    </a:p>
                  </a:txBody>
                  <a:tcPr marL="109728" marR="109728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399" y="160020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" y="1775764"/>
            <a:ext cx="380390" cy="3803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1600200"/>
            <a:ext cx="39319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00000"/>
                </a:solidFill>
                <a:latin typeface="Calibri"/>
              </a:rP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Processor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06040"/>
            <a:ext cx="3337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Dual-core 2 GHz or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9184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291840"/>
            <a:ext cx="3337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4 GB minimum (8 GB recommended)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77639"/>
            <a:ext cx="14630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977639"/>
            <a:ext cx="3337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About 200 MB free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663440"/>
            <a:ext cx="3337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1080 × 700 or larger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4924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Internet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349240"/>
            <a:ext cx="3337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Not needed, runs offline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37160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92240" y="160020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ja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4" y="1775764"/>
            <a:ext cx="380390" cy="380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06640" y="1600200"/>
            <a:ext cx="39319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00000"/>
                </a:solidFill>
                <a:latin typeface="Calibri"/>
              </a:rPr>
              <a:t>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60604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2606040"/>
            <a:ext cx="3337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Java (JDK 17 or later)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29184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GUI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3291840"/>
            <a:ext cx="3337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Java Swing, built into the JDK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977639"/>
            <a:ext cx="14630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Build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3977639"/>
            <a:ext cx="3337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Maven (optional) or plain javac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66344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4663440"/>
            <a:ext cx="3337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Windows, Linux or macOS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534924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Editor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5349240"/>
            <a:ext cx="3337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IntelliJ IDEA, VS Code or Eclipse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7259" y="1577339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up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97" y="1763877"/>
            <a:ext cx="404164" cy="404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65960" y="1417319"/>
            <a:ext cx="38404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Lowest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965960"/>
            <a:ext cx="38404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MCMF uses the cheapest routes first and turns to costlier ones only when cheaper routes are full.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15100" y="1577339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637" y="1763877"/>
            <a:ext cx="404164" cy="404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417319"/>
            <a:ext cx="38404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Limits respected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965960"/>
            <a:ext cx="38404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No route carries more than its capacity, and supply and demand are always taken into account.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79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7259" y="3680459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" y="3866997"/>
            <a:ext cx="404164" cy="404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65960" y="3520439"/>
            <a:ext cx="38404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Easy to 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069079"/>
            <a:ext cx="38404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The cost report lists routes, quantities, cost per route and the total cost.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83279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15100" y="3680459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637" y="3866997"/>
            <a:ext cx="404164" cy="404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43800" y="3520439"/>
            <a:ext cx="38404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069079"/>
            <a:ext cx="38404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Works across road, rail and air services in a network of 14 hubs, showing how graph algorithms help real supply chains.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577840"/>
            <a:ext cx="10835640" cy="685800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577840"/>
            <a:ext cx="104698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Graph algorithms turn a complex shipping decision into a clear, cost-saving 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446020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520440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7259" y="1531619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97" y="1718157"/>
            <a:ext cx="404164" cy="404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42316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Live data and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39"/>
            <a:ext cx="3200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Connect to real carrier and GPS systems for current prices and schedules.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520440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94860" y="1531619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397" y="1718157"/>
            <a:ext cx="404164" cy="404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80" y="242316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Many warehouses at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834639"/>
            <a:ext cx="3200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Handle several warehouses and several destinations in one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280160"/>
            <a:ext cx="3520440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52459" y="1531619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997" y="171815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83879" y="242316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Faster algorithms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834639"/>
            <a:ext cx="3200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Use quicker shortest-path methods so very large networks solve in less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94760"/>
            <a:ext cx="3520440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7259" y="40462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797" y="4232757"/>
            <a:ext cx="404164" cy="404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493776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Map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3200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Show routes on an interactive map, on the web and on mobile.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794760"/>
            <a:ext cx="3520440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94860" y="40462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397" y="4232757"/>
            <a:ext cx="404164" cy="4041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26280" y="493776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More real-life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349240"/>
            <a:ext cx="3200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Add delivery deadlines, priorities and emissions to the cost.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794760"/>
            <a:ext cx="3520440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E6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52459" y="40462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8997" y="4232757"/>
            <a:ext cx="404164" cy="4041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183879" y="493776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Smart forecasting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5349240"/>
            <a:ext cx="3200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Predict future demand with machine learning and store history in a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48FB60-A40D-AFE0-9CB4-B84DE428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795" y="510362"/>
            <a:ext cx="2996609" cy="75502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OUTPUT:</a:t>
            </a: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65F8B75E-601B-6C8F-7761-E367F329CA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71" y="1459163"/>
            <a:ext cx="5717049" cy="2751330"/>
          </a:xfr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A4F5D6CC-66BB-A692-18F7-74C9DB9261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36781" y="3028606"/>
            <a:ext cx="5754417" cy="275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074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67A85-1081-1BB4-8CA3-20F4121B5F14}"/>
              </a:ext>
            </a:extLst>
          </p:cNvPr>
          <p:cNvSpPr txBox="1"/>
          <p:nvPr/>
        </p:nvSpPr>
        <p:spPr>
          <a:xfrm>
            <a:off x="1681877" y="2514562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6E4D64-CE65-A473-3A2C-31DF52A0AFC2}"/>
              </a:ext>
            </a:extLst>
          </p:cNvPr>
          <p:cNvSpPr/>
          <p:nvPr/>
        </p:nvSpPr>
        <p:spPr>
          <a:xfrm>
            <a:off x="4312039" y="423692"/>
            <a:ext cx="356792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GEO tag: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D60A9D7-089A-27F4-7B15-83E145C900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877" y="2376620"/>
            <a:ext cx="5377280" cy="3024720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ECD3AEF-F184-707B-A322-831F1F565C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23" y="2376620"/>
            <a:ext cx="5377280" cy="3024720"/>
          </a:xfrm>
        </p:spPr>
      </p:pic>
    </p:spTree>
    <p:extLst>
      <p:ext uri="{BB962C8B-B14F-4D97-AF65-F5344CB8AC3E}">
        <p14:creationId xmlns:p14="http://schemas.microsoft.com/office/powerpoint/2010/main" val="4142238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534088" y="2672538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1212</Words>
  <Application>Microsoft Office PowerPoint</Application>
  <PresentationFormat>Widescreen</PresentationFormat>
  <Paragraphs>185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Data Structures and Algorithms -3 (25CS2103E) Logistics Optimization Using Minimum-Cost Maximum-Flow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Sanju</cp:lastModifiedBy>
  <cp:revision>21</cp:revision>
  <dcterms:created xsi:type="dcterms:W3CDTF">2024-08-29T05:25:00Z</dcterms:created>
  <dcterms:modified xsi:type="dcterms:W3CDTF">2026-10-12T05:17:17Z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